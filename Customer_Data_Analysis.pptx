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Transactions by Year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17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62719856"/>
        <c:axId val="1862720400"/>
      </c:barChart>
      <c:catAx>
        <c:axId val="1862719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1862720400"/>
        <c:crosses val="autoZero"/>
        <c:auto val="1"/>
        <c:lblAlgn val="ctr"/>
        <c:lblOffset val="100"/>
        <c:noMultiLvlLbl val="1"/>
      </c:catAx>
      <c:valAx>
        <c:axId val="186272040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862719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59.67</c:v>
                </c:pt>
                <c:pt idx="1">
                  <c:v>40.33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Revenue by Age Group (indexed, 35–44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35–44</c:v>
                </c:pt>
                <c:pt idx="1">
                  <c:v>45–54</c:v>
                </c:pt>
                <c:pt idx="2">
                  <c:v>25–34</c:v>
                </c:pt>
                <c:pt idx="3">
                  <c:v>55–64</c:v>
                </c:pt>
                <c:pt idx="4">
                  <c:v>18–24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94</c:v>
                </c:pt>
                <c:pt idx="2">
                  <c:v>89</c:v>
                </c:pt>
                <c:pt idx="3">
                  <c:v>89</c:v>
                </c:pt>
                <c:pt idx="4">
                  <c:v>56</c:v>
                </c:pt>
                <c:pt idx="5">
                  <c:v>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62715504"/>
        <c:axId val="1862722576"/>
      </c:barChart>
      <c:catAx>
        <c:axId val="1862715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1862722576"/>
        <c:crosses val="autoZero"/>
        <c:auto val="1"/>
        <c:lblAlgn val="ctr"/>
        <c:lblOffset val="100"/>
        <c:noMultiLvlLbl val="1"/>
      </c:catAx>
      <c:valAx>
        <c:axId val="186272257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862715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Revenue Share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96167"/>
              </a:solidFill>
              <a:effectLst/>
            </c:spPr>
          </c:dPt>
          <c:dPt>
            <c:idx val="3"/>
            <c:bubble3D val="0"/>
            <c:spPr>
              <a:solidFill>
                <a:srgbClr val="C9D3E8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Shoes</c:v>
                </c:pt>
                <c:pt idx="2">
                  <c:v>Technology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45.11</c:v>
                </c:pt>
                <c:pt idx="1">
                  <c:v>26.88</c:v>
                </c:pt>
                <c:pt idx="2">
                  <c:v>22.82</c:v>
                </c:pt>
                <c:pt idx="3">
                  <c:v>5.19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Average Order Value by Category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($K)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Shoes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</c:v>
                </c:pt>
                <c:pt idx="1">
                  <c:v>6.7</c:v>
                </c:pt>
                <c:pt idx="2">
                  <c:v>3.3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62717136"/>
        <c:axId val="1862717680"/>
      </c:barChart>
      <c:catAx>
        <c:axId val="18627171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1862717680"/>
        <c:crosses val="autoZero"/>
        <c:auto val="1"/>
        <c:lblAlgn val="ctr"/>
        <c:lblOffset val="100"/>
        <c:noMultiLvlLbl val="1"/>
      </c:catAx>
      <c:valAx>
        <c:axId val="186271768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86271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Relative Payment Method Usage (Cash &gt; Credit &gt; Debit)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87525472"/>
        <c:axId val="1987528736"/>
      </c:barChart>
      <c:catAx>
        <c:axId val="19875254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1987528736"/>
        <c:crosses val="autoZero"/>
        <c:auto val="1"/>
        <c:lblAlgn val="ctr"/>
        <c:lblOffset val="100"/>
        <c:noMultiLvlLbl val="1"/>
      </c:catAx>
      <c:valAx>
        <c:axId val="19875287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98752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Total Revenue by Mall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Mall of Istanbul</c:v>
                </c:pt>
                <c:pt idx="1">
                  <c:v>Kanyon</c:v>
                </c:pt>
                <c:pt idx="2">
                  <c:v>Metrocity</c:v>
                </c:pt>
                <c:pt idx="3">
                  <c:v>Metropol AVM</c:v>
                </c:pt>
                <c:pt idx="4">
                  <c:v>Istinye Park</c:v>
                </c:pt>
                <c:pt idx="5">
                  <c:v>Zorlu Center</c:v>
                </c:pt>
                <c:pt idx="6">
                  <c:v>Forum Istanbul</c:v>
                </c:pt>
                <c:pt idx="7">
                  <c:v>Viaport Outlet</c:v>
                </c:pt>
                <c:pt idx="8">
                  <c:v>Cevahir AVM</c:v>
                </c:pt>
                <c:pt idx="9">
                  <c:v>Emaar Square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19.61</c:v>
                </c:pt>
                <c:pt idx="1">
                  <c:v>19.21</c:v>
                </c:pt>
                <c:pt idx="2">
                  <c:v>14.44</c:v>
                </c:pt>
                <c:pt idx="3">
                  <c:v>9.82</c:v>
                </c:pt>
                <c:pt idx="4">
                  <c:v>9.52</c:v>
                </c:pt>
                <c:pt idx="5">
                  <c:v>4.7699999999999996</c:v>
                </c:pt>
                <c:pt idx="6">
                  <c:v>4.63</c:v>
                </c:pt>
                <c:pt idx="7">
                  <c:v>4.6100000000000003</c:v>
                </c:pt>
                <c:pt idx="8">
                  <c:v>4.43</c:v>
                </c:pt>
                <c:pt idx="9">
                  <c:v>4.59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87526016"/>
        <c:axId val="1987514592"/>
      </c:barChart>
      <c:catAx>
        <c:axId val="19875260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1987514592"/>
        <c:crosses val="autoZero"/>
        <c:auto val="1"/>
        <c:lblAlgn val="ctr"/>
        <c:lblOffset val="100"/>
        <c:noMultiLvlLbl val="1"/>
      </c:catAx>
      <c:valAx>
        <c:axId val="198751459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98752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722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 from 10 </a:t>
            </a: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Malls, 2021–2023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Analysis  •  Gender, Age, Category, Payment &amp; Mall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at a Glance (2021–2023)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93776" y="1783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$95.63M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93776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79776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79776" y="1783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79776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65776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65776" y="1783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65776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51776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51776" y="1783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51776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37776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37776" y="1783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637776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977640"/>
            <a:ext cx="10451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generated 59.67% of revenue versus 40.33% for male customers — a pattern consistent across every mall and every product category. Clothing is the leading category at 45.11% of revenue, and just three of ten malls (Mall of Istanbul, Kanyon, Metrocity) account for roughly 56% of total revenue. Cash remains the most common payment method.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2023 With Caution: The Data Looks Partial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4630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0" y="169164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shows roughly 3K transactions — far below 2021 (~20K) and 2022 (~17K). The same drop appears in 2023 revenue.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too large to be a real decline; it strongly suggests the 2023 extract stops partway through the year.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dashboard's 11.5% YoY Growth and $9.84M Revenue YTD figures as partial-year, not full-year, until the date range is confirmed.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Drive the Majority of Revenue — Everywhere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41732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72200" y="1691640"/>
            <a:ext cx="5212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59.67%   |   Male: 40.33%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 exceeds male revenue at every single mall (Mall Revenue by Gender) and in every product category (Category Preference) — the gap is broad-based, not driven by one location or category.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widest category gap is in Clothing (~$19M female vs. ~$16M male), with smaller but consistent gaps in Shoes and Technology.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choice (cash / credit / debit) splits by gender in roughly the same 60/40 proportion — payment behavior looks independent of gender.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Leads on Revenue — But 55–64 Spends the Most Per Visit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41732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0" y="164592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kinds of valuable customer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generates the most total revenue, with 45–54 close behind — likely because these bands have the largest number of customers.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average spend per customer is highest in the 55–64 band (~$2,600) and declines steadily to the 18–24 band (~$2,480).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doesn't yet break category preference out by age — recommended as a future addition.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Anchors Revenue — Technology Wins on Order Value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41732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035040" y="141732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Leads Payment Methods, Independent of Gender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20840" y="169164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&gt; Credit Card &gt; Debit Card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the leading payment method by revenue, with credit card second and debit card a clear third.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ranking holds for both female and male customers in roughly the same proportion as the overall gender split — no method skews disproportionately to either gender.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check: the “Top Categories by Revenue” visual currently mirrors unit-quantity figures exactly — worth verifying the underlying measure.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Malls Generate Over Half of Total Revenue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71600"/>
          <a:ext cx="11274552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26337A"/>
          </a:solidFill>
          <a:ln w="12700">
            <a:solidFill>
              <a:srgbClr val="2633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drive 59.67% of revenue across every mall and category.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77356" y="155448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26337A"/>
          </a:solidFill>
          <a:ln w="12700">
            <a:solidFill>
              <a:srgbClr val="2633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51676" y="169164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Shoes &amp; Technology together make up over 94% of revenue.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26337A"/>
          </a:solidFill>
          <a:ln w="12700">
            <a:solidFill>
              <a:srgbClr val="2633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has the highest average order value ($11.6K) despite lower volume.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7356" y="301752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26337A"/>
          </a:solidFill>
          <a:ln w="12700">
            <a:solidFill>
              <a:srgbClr val="2633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1676" y="315468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leads on total revenue; 55–64 spends the most per customer.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26337A"/>
          </a:solidFill>
          <a:ln w="12700">
            <a:solidFill>
              <a:srgbClr val="2633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1772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leads payment methods, independent of gender.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7356" y="448056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26337A"/>
          </a:solidFill>
          <a:ln w="12700">
            <a:solidFill>
              <a:srgbClr val="2633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1676" y="461772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 malls generate ~56% of total revenue.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female-led revenue while piloting initiatives to grow male customer spend.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6712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Technology's high order value to bundle cross-category promotions with Clothing.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916936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underperforming malls (Zorlu, Forum, Viaport, Cevahir, Emaar Square) for local causes.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666744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debit card use if reducing cash-handling cost/risk is a priority.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416552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offers for 55–64 spenders; acquisition offers for 18–24 customers.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16636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2023 date range and re-base YoY growth on a like-for-like period.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Analysis - Insights &amp; Recommendations</dc:title>
  <dc:subject>PptxGenJS Presentation</dc:subject>
  <dc:creator>Customer Data Analysis</dc:creator>
  <cp:lastModifiedBy>waykarprathmesh65@gmail.com</cp:lastModifiedBy>
  <cp:revision>2</cp:revision>
  <dcterms:created xsi:type="dcterms:W3CDTF">2026-06-18T03:56:06Z</dcterms:created>
  <dcterms:modified xsi:type="dcterms:W3CDTF">2026-06-18T04:03:03Z</dcterms:modified>
</cp:coreProperties>
</file>